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aleway"/>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italic.fntdata"/><Relationship Id="rId10" Type="http://schemas.openxmlformats.org/officeDocument/2006/relationships/slide" Target="slides/slide5.xml"/><Relationship Id="rId32" Type="http://schemas.openxmlformats.org/officeDocument/2006/relationships/font" Target="fonts/Raleway-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Raleway-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5700632b9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95700632b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5700632b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95700632b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5700632b9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5700632b9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56eef45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56eef45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5700632b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5700632b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5700632b9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5700632b9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5700632b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5700632b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956eef45f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956eef45f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5700632b9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5700632b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56eef45f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956eef45f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5700632b9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5700632b9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5700632b9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5700632b9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5700632b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5700632b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5700632b9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5700632b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5700632b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5700632b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5700632b9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95700632b9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95700632b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95700632b9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56eef45f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56eef45f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56eef45f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956eef45f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5700632b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95700632b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5700632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95700632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5700632b9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95700632b9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56eef45f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956eef45f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5700632b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95700632b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EDA Findings</a:t>
            </a:r>
            <a:endParaRPr/>
          </a:p>
        </p:txBody>
      </p:sp>
      <p:sp>
        <p:nvSpPr>
          <p:cNvPr id="59" name="Google Shape;59;p13"/>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Jasmine Zhang, Ishaan Banerjee, Zien Zhu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Overview and Baseline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p:cNvPicPr preferRelativeResize="0"/>
          <p:nvPr/>
        </p:nvPicPr>
        <p:blipFill>
          <a:blip r:embed="rId3">
            <a:alphaModFix/>
          </a:blip>
          <a:stretch>
            <a:fillRect/>
          </a:stretch>
        </p:blipFill>
        <p:spPr>
          <a:xfrm>
            <a:off x="505175" y="826924"/>
            <a:ext cx="4066825" cy="3489655"/>
          </a:xfrm>
          <a:prstGeom prst="rect">
            <a:avLst/>
          </a:prstGeom>
          <a:noFill/>
          <a:ln>
            <a:noFill/>
          </a:ln>
        </p:spPr>
      </p:pic>
      <p:sp>
        <p:nvSpPr>
          <p:cNvPr id="70" name="Google Shape;70;p15"/>
          <p:cNvSpPr txBox="1"/>
          <p:nvPr>
            <p:ph idx="1" type="body"/>
          </p:nvPr>
        </p:nvSpPr>
        <p:spPr>
          <a:xfrm>
            <a:off x="4867625" y="863563"/>
            <a:ext cx="37833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overall default rate is approximately 8%, indicating a highly imbalanced dataset where most applicants do not default.</a:t>
            </a:r>
            <a:endParaRPr/>
          </a:p>
          <a:p>
            <a:pPr indent="0" lvl="0" marL="0" rtl="0" algn="l">
              <a:spcBef>
                <a:spcPts val="1200"/>
              </a:spcBef>
              <a:spcAft>
                <a:spcPts val="1200"/>
              </a:spcAft>
              <a:buNone/>
            </a:pPr>
            <a:r>
              <a:rPr lang="en"/>
              <a:t>This imbalance is typical in credit risk datasets and highlights the importance of identifying strong predictive variables that can distinguish the relatively small group of likely defaulters from the majority of safe applicants.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External Credit Indicators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External Credit Score (EXT_SOURCE_2)</a:t>
            </a:r>
            <a:endParaRPr/>
          </a:p>
        </p:txBody>
      </p:sp>
      <p:sp>
        <p:nvSpPr>
          <p:cNvPr id="81" name="Google Shape;81;p17"/>
          <p:cNvSpPr txBox="1"/>
          <p:nvPr>
            <p:ph idx="1" type="body"/>
          </p:nvPr>
        </p:nvSpPr>
        <p:spPr>
          <a:xfrm>
            <a:off x="5353925" y="1152475"/>
            <a:ext cx="34785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lang="en"/>
              <a:t>Strong relationship between the external credit score and default probability.</a:t>
            </a:r>
            <a:endParaRPr/>
          </a:p>
          <a:p>
            <a:pPr indent="0" lvl="0" marL="0" rtl="0" algn="l">
              <a:spcBef>
                <a:spcPts val="1200"/>
              </a:spcBef>
              <a:spcAft>
                <a:spcPts val="0"/>
              </a:spcAft>
              <a:buClr>
                <a:schemeClr val="dk1"/>
              </a:buClr>
              <a:buSzPct val="61111"/>
              <a:buFont typeface="Arial"/>
              <a:buNone/>
            </a:pPr>
            <a:r>
              <a:rPr lang="en"/>
              <a:t>Applicants with below-median external credit scores have a default rate of 11.2%, compared to above-median credit scores of only 4.9%.</a:t>
            </a:r>
            <a:endParaRPr/>
          </a:p>
          <a:p>
            <a:pPr indent="0" lvl="0" marL="0" rtl="0" algn="l">
              <a:spcBef>
                <a:spcPts val="1200"/>
              </a:spcBef>
              <a:spcAft>
                <a:spcPts val="1200"/>
              </a:spcAft>
              <a:buNone/>
            </a:pPr>
            <a:r>
              <a:rPr lang="en"/>
              <a:t>This is more than double increase in default risk, so external credit score the strongest predictor identified in my analysis.</a:t>
            </a:r>
            <a:endParaRPr/>
          </a:p>
        </p:txBody>
      </p:sp>
      <p:pic>
        <p:nvPicPr>
          <p:cNvPr id="82" name="Google Shape;82;p17" title="download-1.png"/>
          <p:cNvPicPr preferRelativeResize="0"/>
          <p:nvPr/>
        </p:nvPicPr>
        <p:blipFill>
          <a:blip r:embed="rId3">
            <a:alphaModFix/>
          </a:blip>
          <a:stretch>
            <a:fillRect/>
          </a:stretch>
        </p:blipFill>
        <p:spPr>
          <a:xfrm>
            <a:off x="311700" y="1152475"/>
            <a:ext cx="4837524" cy="3636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External Credit Score (EXT_SOURCE_3)</a:t>
            </a:r>
            <a:endParaRPr/>
          </a:p>
        </p:txBody>
      </p:sp>
      <p:sp>
        <p:nvSpPr>
          <p:cNvPr id="88" name="Google Shape;88;p18"/>
          <p:cNvSpPr txBox="1"/>
          <p:nvPr>
            <p:ph idx="1" type="body"/>
          </p:nvPr>
        </p:nvSpPr>
        <p:spPr>
          <a:xfrm>
            <a:off x="5353925" y="1152475"/>
            <a:ext cx="34785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 strong and nearly monotonic decreasing relationship is observed between EXT_SOURCE_3 and default rate.</a:t>
            </a:r>
            <a:endParaRPr/>
          </a:p>
          <a:p>
            <a:pPr indent="0" lvl="0" marL="0" rtl="0" algn="l">
              <a:spcBef>
                <a:spcPts val="1200"/>
              </a:spcBef>
              <a:spcAft>
                <a:spcPts val="0"/>
              </a:spcAft>
              <a:buNone/>
            </a:pPr>
            <a:r>
              <a:rPr lang="en"/>
              <a:t>Applicants with lower external credit scores exhibit significantly higher default probabilities.</a:t>
            </a:r>
            <a:endParaRPr/>
          </a:p>
          <a:p>
            <a:pPr indent="0" lvl="0" marL="0" rtl="0" algn="l">
              <a:spcBef>
                <a:spcPts val="1200"/>
              </a:spcBef>
              <a:spcAft>
                <a:spcPts val="1200"/>
              </a:spcAft>
              <a:buNone/>
            </a:pPr>
            <a:r>
              <a:rPr lang="en"/>
              <a:t>This variable demonstrates one of the strongest predictive signals in the dataset and is highly valuable for identifying high-risk applicants during loan approval.</a:t>
            </a:r>
            <a:endParaRPr/>
          </a:p>
        </p:txBody>
      </p:sp>
      <p:pic>
        <p:nvPicPr>
          <p:cNvPr id="89" name="Google Shape;89;p18"/>
          <p:cNvPicPr preferRelativeResize="0"/>
          <p:nvPr/>
        </p:nvPicPr>
        <p:blipFill>
          <a:blip r:embed="rId3">
            <a:alphaModFix/>
          </a:blip>
          <a:stretch>
            <a:fillRect/>
          </a:stretch>
        </p:blipFill>
        <p:spPr>
          <a:xfrm>
            <a:off x="515000" y="1126713"/>
            <a:ext cx="4399150" cy="3467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Applicant Financial Profile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Income Level (AMT_INCOME_TOTAL)</a:t>
            </a:r>
            <a:endParaRPr/>
          </a:p>
        </p:txBody>
      </p:sp>
      <p:sp>
        <p:nvSpPr>
          <p:cNvPr id="100" name="Google Shape;100;p20"/>
          <p:cNvSpPr txBox="1"/>
          <p:nvPr>
            <p:ph idx="1" type="body"/>
          </p:nvPr>
        </p:nvSpPr>
        <p:spPr>
          <a:xfrm>
            <a:off x="5353925" y="1152475"/>
            <a:ext cx="34785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Higher income groups generally exhibit lower default rates, indicating that stronger financial capacity improves repayment ability.</a:t>
            </a:r>
            <a:endParaRPr/>
          </a:p>
          <a:p>
            <a:pPr indent="0" lvl="0" marL="0" rtl="0" algn="l">
              <a:spcBef>
                <a:spcPts val="1200"/>
              </a:spcBef>
              <a:spcAft>
                <a:spcPts val="1200"/>
              </a:spcAft>
              <a:buNone/>
            </a:pPr>
            <a:r>
              <a:rPr lang="en"/>
              <a:t>Although the relationship is not perfectly monotonic, income remains an important factor for distinguishing lower-risk applicants from higher-risk ones.</a:t>
            </a:r>
            <a:endParaRPr/>
          </a:p>
        </p:txBody>
      </p:sp>
      <p:pic>
        <p:nvPicPr>
          <p:cNvPr id="101" name="Google Shape;101;p20"/>
          <p:cNvPicPr preferRelativeResize="0"/>
          <p:nvPr/>
        </p:nvPicPr>
        <p:blipFill>
          <a:blip r:embed="rId3">
            <a:alphaModFix/>
          </a:blip>
          <a:stretch>
            <a:fillRect/>
          </a:stretch>
        </p:blipFill>
        <p:spPr>
          <a:xfrm>
            <a:off x="623755" y="1152476"/>
            <a:ext cx="4068018" cy="341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Income Type (NAME_INCOME_TYPE)</a:t>
            </a:r>
            <a:endParaRPr/>
          </a:p>
        </p:txBody>
      </p:sp>
      <p:sp>
        <p:nvSpPr>
          <p:cNvPr id="107" name="Google Shape;107;p21"/>
          <p:cNvSpPr txBox="1"/>
          <p:nvPr>
            <p:ph idx="1" type="body"/>
          </p:nvPr>
        </p:nvSpPr>
        <p:spPr>
          <a:xfrm>
            <a:off x="4916200" y="1152475"/>
            <a:ext cx="39162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61111"/>
              <a:buFont typeface="Arial"/>
              <a:buNone/>
            </a:pPr>
            <a:r>
              <a:rPr lang="en"/>
              <a:t>For large groups, Working hsa a 9.6% default rate, Commercial associate has a 7.5% default rate, State servant has a 5.8% default rate, Pensioner has a 5.4% default rate.</a:t>
            </a:r>
            <a:endParaRPr/>
          </a:p>
          <a:p>
            <a:pPr indent="0" lvl="0" marL="0" rtl="0" algn="l">
              <a:spcBef>
                <a:spcPts val="1200"/>
              </a:spcBef>
              <a:spcAft>
                <a:spcPts val="1200"/>
              </a:spcAft>
              <a:buNone/>
            </a:pPr>
            <a:r>
              <a:rPr lang="en"/>
              <a:t>Extremely high default rate for Maternity and Unemployed, but so few data entries that just a few people defaulting artificially skews the data very high, so this is not statistically significant. These groups are too small to be reliable.</a:t>
            </a:r>
            <a:endParaRPr/>
          </a:p>
        </p:txBody>
      </p:sp>
      <p:pic>
        <p:nvPicPr>
          <p:cNvPr id="108" name="Google Shape;108;p21"/>
          <p:cNvPicPr preferRelativeResize="0"/>
          <p:nvPr/>
        </p:nvPicPr>
        <p:blipFill>
          <a:blip r:embed="rId3">
            <a:alphaModFix/>
          </a:blip>
          <a:stretch>
            <a:fillRect/>
          </a:stretch>
        </p:blipFill>
        <p:spPr>
          <a:xfrm>
            <a:off x="311700" y="1152475"/>
            <a:ext cx="4604499" cy="34613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Credit Amount (AMT_CREDIT)</a:t>
            </a:r>
            <a:endParaRPr/>
          </a:p>
        </p:txBody>
      </p:sp>
      <p:sp>
        <p:nvSpPr>
          <p:cNvPr id="114" name="Google Shape;114;p22"/>
          <p:cNvSpPr txBox="1"/>
          <p:nvPr>
            <p:ph idx="1" type="body"/>
          </p:nvPr>
        </p:nvSpPr>
        <p:spPr>
          <a:xfrm>
            <a:off x="5353925" y="1152475"/>
            <a:ext cx="34785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The relationship between credit amount and default risk is moderate.</a:t>
            </a:r>
            <a:endParaRPr/>
          </a:p>
          <a:p>
            <a:pPr indent="0" lvl="0" marL="0" rtl="0" algn="l">
              <a:spcBef>
                <a:spcPts val="1200"/>
              </a:spcBef>
              <a:spcAft>
                <a:spcPts val="0"/>
              </a:spcAft>
              <a:buNone/>
            </a:pPr>
            <a:r>
              <a:rPr lang="en"/>
              <a:t>Applicants requesting extremely large credit amounts tend to show slightly higher default rates, likely due to increased repayment burden.</a:t>
            </a:r>
            <a:endParaRPr/>
          </a:p>
          <a:p>
            <a:pPr indent="0" lvl="0" marL="0" rtl="0" algn="l">
              <a:spcBef>
                <a:spcPts val="1200"/>
              </a:spcBef>
              <a:spcAft>
                <a:spcPts val="1200"/>
              </a:spcAft>
              <a:buNone/>
            </a:pPr>
            <a:r>
              <a:rPr lang="en"/>
              <a:t>Compared to external credit score and income, credit amount alone is a weaker predictor, but it still contributes useful information when combined with other financial indicators.</a:t>
            </a:r>
            <a:endParaRPr/>
          </a:p>
        </p:txBody>
      </p:sp>
      <p:pic>
        <p:nvPicPr>
          <p:cNvPr id="115" name="Google Shape;115;p22"/>
          <p:cNvPicPr preferRelativeResize="0"/>
          <p:nvPr/>
        </p:nvPicPr>
        <p:blipFill>
          <a:blip r:embed="rId3">
            <a:alphaModFix/>
          </a:blip>
          <a:stretch>
            <a:fillRect/>
          </a:stretch>
        </p:blipFill>
        <p:spPr>
          <a:xfrm>
            <a:off x="311700" y="1080052"/>
            <a:ext cx="4299875" cy="3561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Loan Size (Loan-to-Income Ratio)</a:t>
            </a:r>
            <a:endParaRPr/>
          </a:p>
        </p:txBody>
      </p:sp>
      <p:sp>
        <p:nvSpPr>
          <p:cNvPr id="121" name="Google Shape;121;p23"/>
          <p:cNvSpPr txBox="1"/>
          <p:nvPr>
            <p:ph idx="1" type="body"/>
          </p:nvPr>
        </p:nvSpPr>
        <p:spPr>
          <a:xfrm>
            <a:off x="4856375" y="1152475"/>
            <a:ext cx="3975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Borrowers split into two groups by median</a:t>
            </a:r>
            <a:endParaRPr/>
          </a:p>
          <a:p>
            <a:pPr indent="0" lvl="0" marL="0" rtl="0" algn="l">
              <a:spcBef>
                <a:spcPts val="1200"/>
              </a:spcBef>
              <a:spcAft>
                <a:spcPts val="1200"/>
              </a:spcAft>
              <a:buNone/>
            </a:pPr>
            <a:r>
              <a:rPr lang="en"/>
              <a:t>Difference was negligible, suggests loan size relative to portion of borrower's income does not determine default risk.</a:t>
            </a:r>
            <a:endParaRPr/>
          </a:p>
        </p:txBody>
      </p:sp>
      <p:pic>
        <p:nvPicPr>
          <p:cNvPr id="122" name="Google Shape;122;p23"/>
          <p:cNvPicPr preferRelativeResize="0"/>
          <p:nvPr/>
        </p:nvPicPr>
        <p:blipFill>
          <a:blip r:embed="rId3">
            <a:alphaModFix/>
          </a:blip>
          <a:stretch>
            <a:fillRect/>
          </a:stretch>
        </p:blipFill>
        <p:spPr>
          <a:xfrm>
            <a:off x="311700" y="1106650"/>
            <a:ext cx="4544680" cy="341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Historical Loan Behavior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Previous Loan Term (CNT_PAYMENT)</a:t>
            </a:r>
            <a:endParaRPr/>
          </a:p>
        </p:txBody>
      </p:sp>
      <p:sp>
        <p:nvSpPr>
          <p:cNvPr id="133" name="Google Shape;133;p25"/>
          <p:cNvSpPr txBox="1"/>
          <p:nvPr>
            <p:ph idx="1" type="body"/>
          </p:nvPr>
        </p:nvSpPr>
        <p:spPr>
          <a:xfrm>
            <a:off x="5353925" y="1152475"/>
            <a:ext cx="3478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Clients with longer previous loan terms tend to exhibit higher default probabilities.</a:t>
            </a:r>
            <a:endParaRPr/>
          </a:p>
          <a:p>
            <a:pPr indent="0" lvl="0" marL="0" rtl="0" algn="l">
              <a:spcBef>
                <a:spcPts val="1200"/>
              </a:spcBef>
              <a:spcAft>
                <a:spcPts val="0"/>
              </a:spcAft>
              <a:buNone/>
            </a:pPr>
            <a:r>
              <a:rPr lang="en"/>
              <a:t>Long repayment horizons may reflect higher financial stress or structural repayment risk.</a:t>
            </a:r>
            <a:endParaRPr/>
          </a:p>
          <a:p>
            <a:pPr indent="0" lvl="0" marL="0" rtl="0" algn="l">
              <a:spcBef>
                <a:spcPts val="1200"/>
              </a:spcBef>
              <a:spcAft>
                <a:spcPts val="1200"/>
              </a:spcAft>
              <a:buNone/>
            </a:pPr>
            <a:r>
              <a:rPr lang="en"/>
              <a:t>This pattern suggests that loan duration history is a meaningful indicator of default risk.</a:t>
            </a:r>
            <a:endParaRPr/>
          </a:p>
        </p:txBody>
      </p:sp>
      <p:pic>
        <p:nvPicPr>
          <p:cNvPr id="134" name="Google Shape;134;p25"/>
          <p:cNvPicPr preferRelativeResize="0"/>
          <p:nvPr/>
        </p:nvPicPr>
        <p:blipFill>
          <a:blip r:embed="rId3">
            <a:alphaModFix/>
          </a:blip>
          <a:stretch>
            <a:fillRect/>
          </a:stretch>
        </p:blipFill>
        <p:spPr>
          <a:xfrm>
            <a:off x="450925" y="1152475"/>
            <a:ext cx="4537929" cy="3416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Down Payment Ratio (RATE_DOWN_PAYMENT)</a:t>
            </a:r>
            <a:endParaRPr/>
          </a:p>
        </p:txBody>
      </p:sp>
      <p:sp>
        <p:nvSpPr>
          <p:cNvPr id="140" name="Google Shape;140;p26"/>
          <p:cNvSpPr txBox="1"/>
          <p:nvPr>
            <p:ph idx="1" type="body"/>
          </p:nvPr>
        </p:nvSpPr>
        <p:spPr>
          <a:xfrm>
            <a:off x="5353925" y="1152475"/>
            <a:ext cx="34785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 clear decreasing trend is observed: higher down payment ratios are associated with lower default rates.</a:t>
            </a:r>
            <a:endParaRPr/>
          </a:p>
          <a:p>
            <a:pPr indent="0" lvl="0" marL="0" rtl="0" algn="l">
              <a:spcBef>
                <a:spcPts val="1200"/>
              </a:spcBef>
              <a:spcAft>
                <a:spcPts val="1200"/>
              </a:spcAft>
              <a:buNone/>
            </a:pPr>
            <a:r>
              <a:rPr lang="en"/>
              <a:t>Clients who contribute more upfront capital are likely to be financially stronger and less risky, making down payment ratio a strong protective indicator against default.</a:t>
            </a:r>
            <a:endParaRPr/>
          </a:p>
        </p:txBody>
      </p:sp>
      <p:pic>
        <p:nvPicPr>
          <p:cNvPr id="141" name="Google Shape;141;p26"/>
          <p:cNvPicPr preferRelativeResize="0"/>
          <p:nvPr/>
        </p:nvPicPr>
        <p:blipFill>
          <a:blip r:embed="rId3">
            <a:alphaModFix/>
          </a:blip>
          <a:stretch>
            <a:fillRect/>
          </a:stretch>
        </p:blipFill>
        <p:spPr>
          <a:xfrm>
            <a:off x="419625" y="1038050"/>
            <a:ext cx="4570075" cy="3645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Recency of Previous Loan (DAYS_DECISION)</a:t>
            </a:r>
            <a:endParaRPr/>
          </a:p>
        </p:txBody>
      </p:sp>
      <p:sp>
        <p:nvSpPr>
          <p:cNvPr id="147" name="Google Shape;147;p27"/>
          <p:cNvSpPr txBox="1"/>
          <p:nvPr>
            <p:ph idx="1" type="body"/>
          </p:nvPr>
        </p:nvSpPr>
        <p:spPr>
          <a:xfrm>
            <a:off x="5353925" y="1152475"/>
            <a:ext cx="3478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Clients who borrowed more recently tend to show higher default rates.</a:t>
            </a:r>
            <a:endParaRPr/>
          </a:p>
          <a:p>
            <a:pPr indent="0" lvl="0" marL="0" rtl="0" algn="l">
              <a:spcBef>
                <a:spcPts val="1200"/>
              </a:spcBef>
              <a:spcAft>
                <a:spcPts val="1200"/>
              </a:spcAft>
              <a:buNone/>
            </a:pPr>
            <a:r>
              <a:rPr lang="en"/>
              <a:t>This suggests that frequent or recent borrowing activity may reflect ongoing financial pressure or increased debt burden.</a:t>
            </a:r>
            <a:endParaRPr/>
          </a:p>
        </p:txBody>
      </p:sp>
      <p:pic>
        <p:nvPicPr>
          <p:cNvPr id="148" name="Google Shape;148;p27"/>
          <p:cNvPicPr preferRelativeResize="0"/>
          <p:nvPr/>
        </p:nvPicPr>
        <p:blipFill>
          <a:blip r:embed="rId3">
            <a:alphaModFix/>
          </a:blip>
          <a:stretch>
            <a:fillRect/>
          </a:stretch>
        </p:blipFill>
        <p:spPr>
          <a:xfrm>
            <a:off x="515000" y="1059913"/>
            <a:ext cx="4495224" cy="3601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20"/>
              <a:t>Insurance Purchase Behavior (</a:t>
            </a:r>
            <a:r>
              <a:rPr lang="en" sz="2120"/>
              <a:t>NFLAG_INSURED_ON_APPROVAL</a:t>
            </a:r>
            <a:r>
              <a:rPr lang="en" sz="2120"/>
              <a:t>)</a:t>
            </a:r>
            <a:endParaRPr sz="2120"/>
          </a:p>
        </p:txBody>
      </p:sp>
      <p:sp>
        <p:nvSpPr>
          <p:cNvPr id="154" name="Google Shape;154;p28"/>
          <p:cNvSpPr txBox="1"/>
          <p:nvPr>
            <p:ph idx="1" type="body"/>
          </p:nvPr>
        </p:nvSpPr>
        <p:spPr>
          <a:xfrm>
            <a:off x="5353925" y="1152475"/>
            <a:ext cx="3478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Default rates differ between clients who purchased insurance and those who did not.</a:t>
            </a:r>
            <a:endParaRPr/>
          </a:p>
          <a:p>
            <a:pPr indent="0" lvl="0" marL="0" rtl="0" algn="l">
              <a:spcBef>
                <a:spcPts val="1200"/>
              </a:spcBef>
              <a:spcAft>
                <a:spcPts val="1200"/>
              </a:spcAft>
              <a:buNone/>
            </a:pPr>
            <a:r>
              <a:rPr lang="en"/>
              <a:t>Insurance purchase behavior may reflect underlying risk characteristics and contains additional predictive information.</a:t>
            </a:r>
            <a:endParaRPr/>
          </a:p>
        </p:txBody>
      </p:sp>
      <p:pic>
        <p:nvPicPr>
          <p:cNvPr id="155" name="Google Shape;155;p28"/>
          <p:cNvPicPr preferRelativeResize="0"/>
          <p:nvPr/>
        </p:nvPicPr>
        <p:blipFill>
          <a:blip r:embed="rId3">
            <a:alphaModFix/>
          </a:blip>
          <a:stretch>
            <a:fillRect/>
          </a:stretch>
        </p:blipFill>
        <p:spPr>
          <a:xfrm>
            <a:off x="1147500" y="1017725"/>
            <a:ext cx="2915150" cy="2102125"/>
          </a:xfrm>
          <a:prstGeom prst="rect">
            <a:avLst/>
          </a:prstGeom>
          <a:noFill/>
          <a:ln>
            <a:noFill/>
          </a:ln>
        </p:spPr>
      </p:pic>
      <p:pic>
        <p:nvPicPr>
          <p:cNvPr id="156" name="Google Shape;156;p28"/>
          <p:cNvPicPr preferRelativeResize="0"/>
          <p:nvPr/>
        </p:nvPicPr>
        <p:blipFill>
          <a:blip r:embed="rId4">
            <a:alphaModFix/>
          </a:blip>
          <a:stretch>
            <a:fillRect/>
          </a:stretch>
        </p:blipFill>
        <p:spPr>
          <a:xfrm>
            <a:off x="1287750" y="3198925"/>
            <a:ext cx="2634649" cy="1829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Interest Rate Group (NAME_YIELD_GROUP)</a:t>
            </a:r>
            <a:endParaRPr/>
          </a:p>
        </p:txBody>
      </p:sp>
      <p:sp>
        <p:nvSpPr>
          <p:cNvPr id="162" name="Google Shape;162;p29"/>
          <p:cNvSpPr txBox="1"/>
          <p:nvPr>
            <p:ph idx="1" type="body"/>
          </p:nvPr>
        </p:nvSpPr>
        <p:spPr>
          <a:xfrm>
            <a:off x="5353925" y="1152475"/>
            <a:ext cx="3478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Higher interest rate groups exhibit higher default rates, which aligns with risk-based pricing principles.</a:t>
            </a:r>
            <a:endParaRPr/>
          </a:p>
          <a:p>
            <a:pPr indent="0" lvl="0" marL="0" rtl="0" algn="l">
              <a:spcBef>
                <a:spcPts val="1200"/>
              </a:spcBef>
              <a:spcAft>
                <a:spcPts val="1200"/>
              </a:spcAft>
              <a:buNone/>
            </a:pPr>
            <a:r>
              <a:rPr lang="en"/>
              <a:t>This confirms that interest rate assignment captures meaningful information about borrower risk and default likelihood.</a:t>
            </a:r>
            <a:endParaRPr/>
          </a:p>
        </p:txBody>
      </p:sp>
      <p:pic>
        <p:nvPicPr>
          <p:cNvPr id="163" name="Google Shape;163;p29"/>
          <p:cNvPicPr preferRelativeResize="0"/>
          <p:nvPr/>
        </p:nvPicPr>
        <p:blipFill>
          <a:blip r:embed="rId3">
            <a:alphaModFix/>
          </a:blip>
          <a:stretch>
            <a:fillRect/>
          </a:stretch>
        </p:blipFill>
        <p:spPr>
          <a:xfrm>
            <a:off x="672125" y="1179050"/>
            <a:ext cx="4148475" cy="2785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Personal Demographics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6"/>
              <a:buFont typeface="Arial"/>
              <a:buNone/>
            </a:pPr>
            <a:r>
              <a:rPr lang="en"/>
              <a:t>Education Level (NAME_EDUCATION_TYPE)</a:t>
            </a:r>
            <a:endParaRPr/>
          </a:p>
          <a:p>
            <a:pPr indent="0" lvl="0" marL="0" rtl="0" algn="l">
              <a:spcBef>
                <a:spcPts val="0"/>
              </a:spcBef>
              <a:spcAft>
                <a:spcPts val="0"/>
              </a:spcAft>
              <a:buClr>
                <a:schemeClr val="dk1"/>
              </a:buClr>
              <a:buSzPct val="36666"/>
              <a:buFont typeface="Arial"/>
              <a:buNone/>
            </a:pPr>
            <a:r>
              <a:t/>
            </a:r>
            <a:endParaRPr/>
          </a:p>
          <a:p>
            <a:pPr indent="0" lvl="0" marL="0" rtl="0" algn="l">
              <a:spcBef>
                <a:spcPts val="0"/>
              </a:spcBef>
              <a:spcAft>
                <a:spcPts val="0"/>
              </a:spcAft>
              <a:buNone/>
            </a:pPr>
            <a:r>
              <a:t/>
            </a:r>
            <a:endParaRPr/>
          </a:p>
        </p:txBody>
      </p:sp>
      <p:sp>
        <p:nvSpPr>
          <p:cNvPr id="174" name="Google Shape;174;p31"/>
          <p:cNvSpPr txBox="1"/>
          <p:nvPr>
            <p:ph idx="1" type="body"/>
          </p:nvPr>
        </p:nvSpPr>
        <p:spPr>
          <a:xfrm>
            <a:off x="5049075" y="1152475"/>
            <a:ext cx="3783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Default risk decreases steadily as education level increases. Lower secondary education has a 10.9% default rate, secondary education has a 8.9% default rate, higher education has a 5.4% default rate, academic degree has a 1.8% default rate.</a:t>
            </a:r>
            <a:endParaRPr/>
          </a:p>
          <a:p>
            <a:pPr indent="0" lvl="0" marL="0" rtl="0" algn="l">
              <a:spcBef>
                <a:spcPts val="1200"/>
              </a:spcBef>
              <a:spcAft>
                <a:spcPts val="1200"/>
              </a:spcAft>
              <a:buNone/>
            </a:pPr>
            <a:r>
              <a:rPr lang="en"/>
              <a:t>Applicants with lower education have roughly double the default risk</a:t>
            </a:r>
            <a:endParaRPr/>
          </a:p>
        </p:txBody>
      </p:sp>
      <p:pic>
        <p:nvPicPr>
          <p:cNvPr id="175" name="Google Shape;175;p31"/>
          <p:cNvPicPr preferRelativeResize="0"/>
          <p:nvPr/>
        </p:nvPicPr>
        <p:blipFill>
          <a:blip r:embed="rId3">
            <a:alphaModFix/>
          </a:blip>
          <a:stretch>
            <a:fillRect/>
          </a:stretch>
        </p:blipFill>
        <p:spPr>
          <a:xfrm>
            <a:off x="311700" y="1152475"/>
            <a:ext cx="4737375" cy="3492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Employment Length (DAYS_EMPLOYED)</a:t>
            </a:r>
            <a:endParaRPr/>
          </a:p>
        </p:txBody>
      </p:sp>
      <p:sp>
        <p:nvSpPr>
          <p:cNvPr id="181" name="Google Shape;181;p32"/>
          <p:cNvSpPr txBox="1"/>
          <p:nvPr>
            <p:ph idx="1" type="body"/>
          </p:nvPr>
        </p:nvSpPr>
        <p:spPr>
          <a:xfrm>
            <a:off x="5071825" y="1152475"/>
            <a:ext cx="3760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Short employment had a 8.97% default rate and long employment had a 7.17% default rate.</a:t>
            </a:r>
            <a:endParaRPr/>
          </a:p>
          <a:p>
            <a:pPr indent="0" lvl="0" marL="0" rtl="0" algn="l">
              <a:spcBef>
                <a:spcPts val="1200"/>
              </a:spcBef>
              <a:spcAft>
                <a:spcPts val="1200"/>
              </a:spcAft>
              <a:buNone/>
            </a:pPr>
            <a:r>
              <a:rPr lang="en"/>
              <a:t>Moderate increase of 15% default risk when going from long employment to short</a:t>
            </a:r>
            <a:endParaRPr/>
          </a:p>
        </p:txBody>
      </p:sp>
      <p:pic>
        <p:nvPicPr>
          <p:cNvPr id="182" name="Google Shape;182;p32"/>
          <p:cNvPicPr preferRelativeResize="0"/>
          <p:nvPr/>
        </p:nvPicPr>
        <p:blipFill>
          <a:blip r:embed="rId3">
            <a:alphaModFix/>
          </a:blip>
          <a:stretch>
            <a:fillRect/>
          </a:stretch>
        </p:blipFill>
        <p:spPr>
          <a:xfrm>
            <a:off x="311700" y="1152473"/>
            <a:ext cx="4760124" cy="3578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420"/>
              <a:t>Family Status</a:t>
            </a:r>
            <a:r>
              <a:rPr lang="en" sz="2420"/>
              <a:t> (</a:t>
            </a:r>
            <a:r>
              <a:rPr lang="en" sz="2420"/>
              <a:t>NAME_FAMILY_STATUS</a:t>
            </a:r>
            <a:r>
              <a:rPr lang="en" sz="2420"/>
              <a:t>)</a:t>
            </a:r>
            <a:endParaRPr sz="2420"/>
          </a:p>
          <a:p>
            <a:pPr indent="0" lvl="0" marL="0" rtl="0" algn="l">
              <a:spcBef>
                <a:spcPts val="0"/>
              </a:spcBef>
              <a:spcAft>
                <a:spcPts val="0"/>
              </a:spcAft>
              <a:buClr>
                <a:schemeClr val="dk1"/>
              </a:buClr>
              <a:buSzPts val="990"/>
              <a:buFont typeface="Arial"/>
              <a:buNone/>
            </a:pPr>
            <a:r>
              <a:t/>
            </a:r>
            <a:endParaRPr sz="2420"/>
          </a:p>
          <a:p>
            <a:pPr indent="0" lvl="0" marL="0" rtl="0" algn="l">
              <a:spcBef>
                <a:spcPts val="0"/>
              </a:spcBef>
              <a:spcAft>
                <a:spcPts val="0"/>
              </a:spcAft>
              <a:buSzPts val="990"/>
              <a:buNone/>
            </a:pPr>
            <a:r>
              <a:t/>
            </a:r>
            <a:endParaRPr sz="2420"/>
          </a:p>
        </p:txBody>
      </p:sp>
      <p:sp>
        <p:nvSpPr>
          <p:cNvPr id="188" name="Google Shape;188;p33"/>
          <p:cNvSpPr txBox="1"/>
          <p:nvPr>
            <p:ph idx="1" type="body"/>
          </p:nvPr>
        </p:nvSpPr>
        <p:spPr>
          <a:xfrm>
            <a:off x="4866900" y="1152475"/>
            <a:ext cx="39654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I</a:t>
            </a:r>
            <a:r>
              <a:rPr lang="en"/>
              <a:t>ndividuals in a civil marriage or those who are single/unmarried face the highest likelihood of default, with both groups approaching a 10% rate. </a:t>
            </a:r>
            <a:endParaRPr/>
          </a:p>
          <a:p>
            <a:pPr indent="0" lvl="0" marL="0" rtl="0" algn="l">
              <a:spcBef>
                <a:spcPts val="1200"/>
              </a:spcBef>
              <a:spcAft>
                <a:spcPts val="0"/>
              </a:spcAft>
              <a:buNone/>
            </a:pPr>
            <a:r>
              <a:rPr lang="en"/>
              <a:t>Conversely, those classified as a Widow exhibit the lowest risk of default at approximately 6%, while Married individuals show a moderate risk level near 7.5%. </a:t>
            </a:r>
            <a:endParaRPr/>
          </a:p>
          <a:p>
            <a:pPr indent="0" lvl="0" marL="0" rtl="0" algn="l">
              <a:spcBef>
                <a:spcPts val="1200"/>
              </a:spcBef>
              <a:spcAft>
                <a:spcPts val="1200"/>
              </a:spcAft>
              <a:buNone/>
            </a:pPr>
            <a:r>
              <a:rPr lang="en"/>
              <a:t>Family structures involving singlehood or informal partnerships are associated with higher financial default rates compared to traditional marriage or widowhood.</a:t>
            </a:r>
            <a:endParaRPr/>
          </a:p>
        </p:txBody>
      </p:sp>
      <p:pic>
        <p:nvPicPr>
          <p:cNvPr id="189" name="Google Shape;189;p33" title="Screenshot 2026-02-27 at 1.10.03 AM.png"/>
          <p:cNvPicPr preferRelativeResize="0"/>
          <p:nvPr/>
        </p:nvPicPr>
        <p:blipFill>
          <a:blip r:embed="rId3">
            <a:alphaModFix/>
          </a:blip>
          <a:stretch>
            <a:fillRect/>
          </a:stretch>
        </p:blipFill>
        <p:spPr>
          <a:xfrm>
            <a:off x="758400" y="1017725"/>
            <a:ext cx="3813612" cy="38209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Housing Type (NAME_HOUSING_TYPE)</a:t>
            </a:r>
            <a:endParaRPr/>
          </a:p>
        </p:txBody>
      </p:sp>
      <p:sp>
        <p:nvSpPr>
          <p:cNvPr id="195" name="Google Shape;195;p34"/>
          <p:cNvSpPr txBox="1"/>
          <p:nvPr>
            <p:ph idx="1" type="body"/>
          </p:nvPr>
        </p:nvSpPr>
        <p:spPr>
          <a:xfrm>
            <a:off x="4916200" y="1152475"/>
            <a:ext cx="39162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Individuals in more stable or ownership-oriented housing, such as office or co-op apartments, maintain the lowest default rates, ranging between 6.5% and 8.5%.</a:t>
            </a:r>
            <a:endParaRPr/>
          </a:p>
          <a:p>
            <a:pPr indent="0" lvl="0" marL="0" rtl="0" algn="l">
              <a:spcBef>
                <a:spcPts val="1200"/>
              </a:spcBef>
              <a:spcAft>
                <a:spcPts val="1200"/>
              </a:spcAft>
              <a:buNone/>
            </a:pPr>
            <a:r>
              <a:rPr lang="en"/>
              <a:t>A significant upward trend in risk appears for those in rented apartments or living with parents, where the likelihood of default peaks at over 12%.</a:t>
            </a:r>
            <a:endParaRPr/>
          </a:p>
        </p:txBody>
      </p:sp>
      <p:pic>
        <p:nvPicPr>
          <p:cNvPr id="196" name="Google Shape;196;p34" title="Screenshot 2026-02-27 at 12.28.36 AM.png"/>
          <p:cNvPicPr preferRelativeResize="0"/>
          <p:nvPr/>
        </p:nvPicPr>
        <p:blipFill rotWithShape="1">
          <a:blip r:embed="rId3">
            <a:alphaModFix/>
          </a:blip>
          <a:srcRect b="0" l="665" r="0" t="0"/>
          <a:stretch/>
        </p:blipFill>
        <p:spPr>
          <a:xfrm>
            <a:off x="707675" y="1017725"/>
            <a:ext cx="3838101" cy="3915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5"/>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Geographic and Contractual Risk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6"/>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320"/>
              <a:t>City Registration Mismatch (REG_CITY_NOT_WORK_CITY)</a:t>
            </a:r>
            <a:endParaRPr sz="2320"/>
          </a:p>
          <a:p>
            <a:pPr indent="0" lvl="0" marL="0" rtl="0" algn="l">
              <a:spcBef>
                <a:spcPts val="0"/>
              </a:spcBef>
              <a:spcAft>
                <a:spcPts val="0"/>
              </a:spcAft>
              <a:buClr>
                <a:schemeClr val="dk1"/>
              </a:buClr>
              <a:buSzPts val="990"/>
              <a:buFont typeface="Arial"/>
              <a:buNone/>
            </a:pPr>
            <a:r>
              <a:t/>
            </a:r>
            <a:endParaRPr sz="2320"/>
          </a:p>
          <a:p>
            <a:pPr indent="0" lvl="0" marL="0" rtl="0" algn="l">
              <a:spcBef>
                <a:spcPts val="0"/>
              </a:spcBef>
              <a:spcAft>
                <a:spcPts val="0"/>
              </a:spcAft>
              <a:buSzPts val="990"/>
              <a:buNone/>
            </a:pPr>
            <a:r>
              <a:t/>
            </a:r>
            <a:endParaRPr sz="2320"/>
          </a:p>
        </p:txBody>
      </p:sp>
      <p:sp>
        <p:nvSpPr>
          <p:cNvPr id="207" name="Google Shape;207;p36"/>
          <p:cNvSpPr txBox="1"/>
          <p:nvPr>
            <p:ph idx="1" type="body"/>
          </p:nvPr>
        </p:nvSpPr>
        <p:spPr>
          <a:xfrm>
            <a:off x="4866900" y="1152475"/>
            <a:ext cx="39654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Borrowers whose registered city is different from their work city have slightly higher default rates.</a:t>
            </a:r>
            <a:endParaRPr/>
          </a:p>
          <a:p>
            <a:pPr indent="0" lvl="0" marL="0" rtl="0" algn="l">
              <a:spcBef>
                <a:spcPts val="1200"/>
              </a:spcBef>
              <a:spcAft>
                <a:spcPts val="0"/>
              </a:spcAft>
              <a:buClr>
                <a:schemeClr val="dk1"/>
              </a:buClr>
              <a:buSzPts val="1100"/>
              <a:buFont typeface="Arial"/>
              <a:buNone/>
            </a:pPr>
            <a:r>
              <a:rPr lang="en"/>
              <a:t>Difference is moderate, registered city being different suggests some </a:t>
            </a:r>
            <a:r>
              <a:rPr lang="en"/>
              <a:t>instability</a:t>
            </a:r>
            <a:r>
              <a:rPr lang="en"/>
              <a:t>.</a:t>
            </a:r>
            <a:endParaRPr/>
          </a:p>
          <a:p>
            <a:pPr indent="0" lvl="0" marL="0" rtl="0" algn="l">
              <a:spcBef>
                <a:spcPts val="1200"/>
              </a:spcBef>
              <a:spcAft>
                <a:spcPts val="1200"/>
              </a:spcAft>
              <a:buNone/>
            </a:pPr>
            <a:r>
              <a:rPr lang="en"/>
              <a:t>Default rate increases from 7.31% to 10.61% when registered city doesn't match work city, which is a 49% increase in default risk.</a:t>
            </a:r>
            <a:endParaRPr/>
          </a:p>
        </p:txBody>
      </p:sp>
      <p:pic>
        <p:nvPicPr>
          <p:cNvPr id="208" name="Google Shape;208;p36"/>
          <p:cNvPicPr preferRelativeResize="0"/>
          <p:nvPr/>
        </p:nvPicPr>
        <p:blipFill>
          <a:blip r:embed="rId3">
            <a:alphaModFix/>
          </a:blip>
          <a:stretch>
            <a:fillRect/>
          </a:stretch>
        </p:blipFill>
        <p:spPr>
          <a:xfrm>
            <a:off x="311700" y="1152475"/>
            <a:ext cx="4555200" cy="3416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37" title="Screenshot 2026-02-27 at 6.42.20 PM.png"/>
          <p:cNvPicPr preferRelativeResize="0"/>
          <p:nvPr/>
        </p:nvPicPr>
        <p:blipFill rotWithShape="1">
          <a:blip r:embed="rId3">
            <a:alphaModFix/>
          </a:blip>
          <a:srcRect b="0" l="0" r="0" t="1506"/>
          <a:stretch/>
        </p:blipFill>
        <p:spPr>
          <a:xfrm>
            <a:off x="733250" y="1283688"/>
            <a:ext cx="3357875" cy="3153975"/>
          </a:xfrm>
          <a:prstGeom prst="rect">
            <a:avLst/>
          </a:prstGeom>
          <a:noFill/>
          <a:ln>
            <a:noFill/>
          </a:ln>
        </p:spPr>
      </p:pic>
      <p:sp>
        <p:nvSpPr>
          <p:cNvPr id="214" name="Google Shape;214;p3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Contract Type (NAME_CONTRACT_TYPE)</a:t>
            </a:r>
            <a:endParaRPr/>
          </a:p>
        </p:txBody>
      </p:sp>
      <p:sp>
        <p:nvSpPr>
          <p:cNvPr id="215" name="Google Shape;215;p37"/>
          <p:cNvSpPr txBox="1"/>
          <p:nvPr>
            <p:ph idx="1" type="body"/>
          </p:nvPr>
        </p:nvSpPr>
        <p:spPr>
          <a:xfrm>
            <a:off x="4916200" y="1152475"/>
            <a:ext cx="39162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I</a:t>
            </a:r>
            <a:r>
              <a:rPr lang="en"/>
              <a:t>ndividuals with cash loans have a notably higher default risk, with a likelihood of approximately 8.3%. Conversely, those with revolving loans demonstrate a significantly lower default rate, which is situated near 5.5%. </a:t>
            </a:r>
            <a:endParaRPr/>
          </a:p>
          <a:p>
            <a:pPr indent="0" lvl="0" marL="0" rtl="0" algn="l">
              <a:spcBef>
                <a:spcPts val="1200"/>
              </a:spcBef>
              <a:spcAft>
                <a:spcPts val="1200"/>
              </a:spcAft>
              <a:buNone/>
            </a:pPr>
            <a:r>
              <a:rPr lang="en"/>
              <a:t>This disparity suggests that the type of financial contract is a strong indicator of repayment reliability, with revolving credit posing less risk than cash loans.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